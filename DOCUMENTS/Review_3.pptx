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18120" y="960120"/>
            <a:ext cx="4206240" cy="4206240"/>
          </a:xfrm>
          <a:prstGeom prst="ellipse">
            <a:avLst/>
          </a:prstGeom>
          <a:noFill/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02752" y="1444752"/>
            <a:ext cx="3246120" cy="3246120"/>
          </a:xfrm>
          <a:prstGeom prst="ellipse">
            <a:avLst/>
          </a:prstGeom>
          <a:noFill/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05672" y="1947672"/>
            <a:ext cx="2240280" cy="2240280"/>
          </a:xfrm>
          <a:prstGeom prst="ellipse">
            <a:avLst/>
          </a:prstGeom>
          <a:noFill/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54312" y="2496312"/>
            <a:ext cx="1143000" cy="1143000"/>
          </a:xfrm>
          <a:prstGeom prst="ellipse">
            <a:avLst/>
          </a:prstGeom>
          <a:noFill/>
          <a:ln>
            <a:solidFill>
              <a:srgbClr val="5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8138160" y="4069080"/>
            <a:ext cx="320040" cy="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458200" y="3703320"/>
            <a:ext cx="182880" cy="36576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41080" y="3703320"/>
            <a:ext cx="164592" cy="73152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805672" y="3383280"/>
            <a:ext cx="173736" cy="105156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79408" y="3383280"/>
            <a:ext cx="182880" cy="77724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62288" y="4069080"/>
            <a:ext cx="182880" cy="9144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45168" y="4069080"/>
            <a:ext cx="347472" cy="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92640" y="3703320"/>
            <a:ext cx="201168" cy="36576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93808" y="3703320"/>
            <a:ext cx="182880" cy="68580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076688" y="4069080"/>
            <a:ext cx="210312" cy="32004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87000" y="4069080"/>
            <a:ext cx="960120" cy="0"/>
          </a:xfrm>
          <a:prstGeom prst="line">
            <a:avLst/>
          </a:prstGeom>
          <a:ln w="2794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566928"/>
            <a:ext cx="6858000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REVIEW 3  |  METHODOLOGY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298448"/>
            <a:ext cx="6766560" cy="13258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34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AI-Based Ground Vibration</a:t>
            </a:r>
            <a:br/>
            <a:r>
              <a:rPr>
                <a:solidFill>
                  <a:srgbClr val="2B2730"/>
                </a:solidFill>
              </a:rP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61488"/>
            <a:ext cx="6583680" cy="5029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1">
                <a:solidFill>
                  <a:srgbClr val="5FBEF0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Human / Vehicle Activity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456432"/>
            <a:ext cx="6126480" cy="7772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A low-cost sensing pipeline combining analog electronics,</a:t>
            </a:r>
            <a:br/>
            <a:r>
              <a:rPr>
                <a:solidFill>
                  <a:srgbClr val="2B2730"/>
                </a:solidFill>
              </a:rPr>
              <a:t>digital signal processing and machine learning.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800600"/>
            <a:ext cx="6035040" cy="1024128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956048"/>
            <a:ext cx="146304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TEAM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30368"/>
            <a:ext cx="5440680" cy="47397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4F8FB"/>
                </a:solidFill>
                <a:latin typeface="Aptos"/>
              </a:defRPr>
            </a:pPr>
            <a:r>
              <a:rPr dirty="0">
                <a:solidFill>
                  <a:srgbClr val="2B2730"/>
                </a:solidFill>
              </a:rPr>
              <a:t>G. Akshith  •  K. </a:t>
            </a:r>
            <a:r>
              <a:rPr dirty="0" err="1">
                <a:solidFill>
                  <a:srgbClr val="2B2730"/>
                </a:solidFill>
              </a:rPr>
              <a:t>Ahladh</a:t>
            </a:r>
            <a:r>
              <a:rPr dirty="0">
                <a:solidFill>
                  <a:srgbClr val="2B2730"/>
                </a:solidFill>
              </a:rPr>
              <a:t>  •  P. Cyril Raj</a:t>
            </a:r>
            <a:br>
              <a:rPr dirty="0"/>
            </a:br>
            <a:r>
              <a:rPr dirty="0">
                <a:solidFill>
                  <a:srgbClr val="2B2730"/>
                </a:solidFill>
              </a:rPr>
              <a:t>K</a:t>
            </a:r>
            <a:r>
              <a:rPr lang="en-US" dirty="0">
                <a:solidFill>
                  <a:srgbClr val="2B2730"/>
                </a:solidFill>
              </a:rPr>
              <a:t>.</a:t>
            </a:r>
            <a:r>
              <a:rPr dirty="0">
                <a:solidFill>
                  <a:srgbClr val="2B2730"/>
                </a:solidFill>
              </a:rPr>
              <a:t> Sravya  •  B. Gowri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6053328"/>
            <a:ext cx="7955279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Guides: A. Bhuvaneshwari (AECD)  |  Ashwini Kumar Varma (Signal Processing)</a:t>
            </a:r>
            <a:br/>
            <a:r>
              <a:rPr>
                <a:solidFill>
                  <a:srgbClr val="2B2730"/>
                </a:solidFill>
              </a:rPr>
              <a:t>Gangamohan Paidi (Machine Learning)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Problem, Research Gap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49808" cy="50292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Why ground vibration can complement visibility-based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777240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02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3520440" cy="201168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61872"/>
            <a:ext cx="54864" cy="2011680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08175"/>
            <a:ext cx="3154680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92224"/>
            <a:ext cx="3136392" cy="1389888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Cameras can struggle in darkness, fog, dust, foliage and obstructed views.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Footsteps, vehicles and other events create different ground-vibration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61872"/>
            <a:ext cx="3520440" cy="201168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261872"/>
            <a:ext cx="54864" cy="2011680"/>
          </a:xfrm>
          <a:prstGeom prst="rect">
            <a:avLst/>
          </a:prstGeom>
          <a:solidFill>
            <a:srgbClr val="CA9746"/>
          </a:solidFill>
          <a:ln>
            <a:solidFill>
              <a:srgbClr val="CA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408175"/>
            <a:ext cx="3154680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FFBE5C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792224"/>
            <a:ext cx="3136392" cy="1389888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A low-cost, integrated pipeline is needed to sense, process and classify vibration.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Real-world performance still needs validation using labelled hardware recordings.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261872"/>
            <a:ext cx="3520440" cy="201168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91856" y="1261872"/>
            <a:ext cx="54864" cy="2011680"/>
          </a:xfrm>
          <a:prstGeom prst="rect">
            <a:avLst/>
          </a:prstGeom>
          <a:solidFill>
            <a:srgbClr val="5B3E5B"/>
          </a:solidFill>
          <a:ln>
            <a:solidFill>
              <a:srgbClr val="5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4" y="1408175"/>
            <a:ext cx="3154680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5FBEF0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PROJECT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1792224"/>
            <a:ext cx="3136392" cy="1389888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Condition and digitise the weak piezo signal.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Extract signal features and compare Decision Tree vs Random Forest.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Display class and raise a local alert.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FOUR TARGET CLASSES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041648"/>
            <a:ext cx="2542032" cy="960120"/>
          </a:xfrm>
          <a:prstGeom prst="roundRect">
            <a:avLst/>
          </a:prstGeom>
          <a:solidFill>
            <a:srgbClr val="FFFDF9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4197096"/>
            <a:ext cx="438912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15384"/>
            <a:ext cx="173736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No activity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9584" y="4041648"/>
            <a:ext cx="2542032" cy="960120"/>
          </a:xfrm>
          <a:prstGeom prst="roundRect">
            <a:avLst/>
          </a:prstGeom>
          <a:solidFill>
            <a:srgbClr val="FFFDF9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94176" y="4197096"/>
            <a:ext cx="438912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2" y="4215384"/>
            <a:ext cx="173736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Human footsteps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4041648"/>
            <a:ext cx="2542032" cy="960120"/>
          </a:xfrm>
          <a:prstGeom prst="roundRect">
            <a:avLst/>
          </a:prstGeom>
          <a:solidFill>
            <a:srgbClr val="FFFDF9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4197096"/>
            <a:ext cx="438912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5FBEF0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4215384"/>
            <a:ext cx="173736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Light vehicle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62288" y="4041648"/>
            <a:ext cx="2542032" cy="960120"/>
          </a:xfrm>
          <a:prstGeom prst="roundRect">
            <a:avLst/>
          </a:prstGeom>
          <a:solidFill>
            <a:srgbClr val="FFFDF9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0" y="4197096"/>
            <a:ext cx="438912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FFBE5C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0656" y="4215384"/>
            <a:ext cx="173736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Other vibration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486400"/>
            <a:ext cx="10607040" cy="5029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Core aim: detect activity independently of visibility and classify the source from its vibration signature.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6473952"/>
            <a:ext cx="320040" cy="22860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49808" cy="50292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End-to-end workflow: sense → condition → analyse → classify →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777240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03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1417320" cy="141732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21208" y="2029968"/>
            <a:ext cx="329184" cy="329184"/>
          </a:xfrm>
          <a:prstGeom prst="ellipse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2066544"/>
            <a:ext cx="329184" cy="1828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487168"/>
            <a:ext cx="1197864" cy="2468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816352"/>
            <a:ext cx="1271016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Piezoelectric</a:t>
            </a:r>
            <a:br/>
            <a:r>
              <a:rPr>
                <a:solidFill>
                  <a:srgbClr val="2B2730"/>
                </a:solidFill>
              </a:rPr>
              <a:t>transducer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56231" y="2633472"/>
            <a:ext cx="219457" cy="0"/>
          </a:xfrm>
          <a:prstGeom prst="line">
            <a:avLst/>
          </a:prstGeom>
          <a:ln w="19050">
            <a:solidFill>
              <a:srgbClr val="E1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12264" y="1920240"/>
            <a:ext cx="1417320" cy="141732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221992" y="2029968"/>
            <a:ext cx="329184" cy="329184"/>
          </a:xfrm>
          <a:prstGeom prst="ellipse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21992" y="2066544"/>
            <a:ext cx="329184" cy="1828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2" y="2487168"/>
            <a:ext cx="1197864" cy="2468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5416" y="2816352"/>
            <a:ext cx="1271016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Amplify, bias</a:t>
            </a:r>
            <a:br/>
            <a:r>
              <a:rPr>
                <a:solidFill>
                  <a:srgbClr val="2B2730"/>
                </a:solidFill>
              </a:rPr>
              <a:t>and analog LPF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57016" y="2633472"/>
            <a:ext cx="219456" cy="0"/>
          </a:xfrm>
          <a:prstGeom prst="line">
            <a:avLst/>
          </a:prstGeom>
          <a:ln w="19050">
            <a:solidFill>
              <a:srgbClr val="E1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13048" y="1920240"/>
            <a:ext cx="1417320" cy="141732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922776" y="2029968"/>
            <a:ext cx="329184" cy="329184"/>
          </a:xfrm>
          <a:prstGeom prst="ellipse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22776" y="2066544"/>
            <a:ext cx="329184" cy="1828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2776" y="2487168"/>
            <a:ext cx="1197864" cy="2468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DIGITISE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816352"/>
            <a:ext cx="1271016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ESP32 ADC</a:t>
            </a:r>
            <a:br/>
            <a:r>
              <a:rPr>
                <a:solidFill>
                  <a:srgbClr val="2B2730"/>
                </a:solidFill>
              </a:rPr>
              <a:t>at 2 kHz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57800" y="2633472"/>
            <a:ext cx="219455" cy="0"/>
          </a:xfrm>
          <a:prstGeom prst="line">
            <a:avLst/>
          </a:prstGeom>
          <a:ln w="19050">
            <a:solidFill>
              <a:srgbClr val="E1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513832" y="1920240"/>
            <a:ext cx="1417320" cy="141732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23560" y="2029968"/>
            <a:ext cx="329184" cy="329184"/>
          </a:xfrm>
          <a:prstGeom prst="ellipse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60" y="2066544"/>
            <a:ext cx="329184" cy="1828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2487168"/>
            <a:ext cx="1197864" cy="2468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6984" y="2816352"/>
            <a:ext cx="1271016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101-tap FIR</a:t>
            </a:r>
            <a:br/>
            <a:r>
              <a:rPr>
                <a:solidFill>
                  <a:srgbClr val="2B2730"/>
                </a:solidFill>
              </a:rPr>
              <a:t>5–400 Hz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8584" y="2633472"/>
            <a:ext cx="219456" cy="0"/>
          </a:xfrm>
          <a:prstGeom prst="line">
            <a:avLst/>
          </a:prstGeom>
          <a:ln w="19050">
            <a:solidFill>
              <a:srgbClr val="E1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14616" y="1920240"/>
            <a:ext cx="1417320" cy="141732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324344" y="2029968"/>
            <a:ext cx="329184" cy="329184"/>
          </a:xfrm>
          <a:prstGeom prst="ellipse">
            <a:avLst/>
          </a:prstGeom>
          <a:solidFill>
            <a:srgbClr val="5B3E5B"/>
          </a:solidFill>
          <a:ln>
            <a:solidFill>
              <a:srgbClr val="5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24344" y="2066544"/>
            <a:ext cx="329184" cy="1828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344" y="2487168"/>
            <a:ext cx="1197864" cy="2468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5FBEF0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EXTRACT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7768" y="2816352"/>
            <a:ext cx="1271016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1 s windows +</a:t>
            </a:r>
            <a:br/>
            <a:r>
              <a:rPr>
                <a:solidFill>
                  <a:srgbClr val="2B2730"/>
                </a:solidFill>
              </a:rPr>
              <a:t>6 features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59368" y="2633472"/>
            <a:ext cx="219456" cy="0"/>
          </a:xfrm>
          <a:prstGeom prst="line">
            <a:avLst/>
          </a:prstGeom>
          <a:ln w="19050">
            <a:solidFill>
              <a:srgbClr val="E1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915400" y="1920240"/>
            <a:ext cx="1417320" cy="141732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25128" y="2029968"/>
            <a:ext cx="329184" cy="329184"/>
          </a:xfrm>
          <a:prstGeom prst="ellipse">
            <a:avLst/>
          </a:prstGeom>
          <a:solidFill>
            <a:srgbClr val="5B3E5B"/>
          </a:solidFill>
          <a:ln>
            <a:solidFill>
              <a:srgbClr val="5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25128" y="2066544"/>
            <a:ext cx="329184" cy="1828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5128" y="2487168"/>
            <a:ext cx="1197864" cy="2468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5FBEF0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CLASSIFY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8552" y="2816352"/>
            <a:ext cx="1271016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Decision Tree /</a:t>
            </a:r>
            <a:br/>
            <a:r>
              <a:rPr>
                <a:solidFill>
                  <a:srgbClr val="2B2730"/>
                </a:solidFill>
              </a:rPr>
              <a:t>Random Forest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360152" y="2633472"/>
            <a:ext cx="219456" cy="0"/>
          </a:xfrm>
          <a:prstGeom prst="line">
            <a:avLst/>
          </a:prstGeom>
          <a:ln w="19050">
            <a:solidFill>
              <a:srgbClr val="E1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616184" y="1920240"/>
            <a:ext cx="1417320" cy="141732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725911" y="2029968"/>
            <a:ext cx="329184" cy="329184"/>
          </a:xfrm>
          <a:prstGeom prst="ellipse">
            <a:avLst/>
          </a:prstGeom>
          <a:solidFill>
            <a:srgbClr val="CA9746"/>
          </a:solidFill>
          <a:ln>
            <a:solidFill>
              <a:srgbClr val="CA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25911" y="2066544"/>
            <a:ext cx="329184" cy="1828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5911" y="2487168"/>
            <a:ext cx="1197864" cy="2468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FFBE5C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ALERT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89336" y="2816352"/>
            <a:ext cx="1271016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OLED + LED /</a:t>
            </a:r>
            <a:br/>
            <a:r>
              <a:rPr>
                <a:solidFill>
                  <a:srgbClr val="2B2730"/>
                </a:solidFill>
              </a:rPr>
              <a:t>buzzer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" y="4069080"/>
            <a:ext cx="10287000" cy="123444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70432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FEATURE VECTOR PER 1-SECOND WINDOW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0432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RMS  •  Peak amplitude  •  Dominant FFT frequency  •  Energy: 5–50 Hz  •  50–150 Hz  •  150–400 Hz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650992"/>
            <a:ext cx="10561320" cy="4572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Alert rule: show the predicted class; activate an LED for activity and buzzer for footsteps / light vehicle. Two consecutive matching windows may reduce false alarms.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" y="6473952"/>
            <a:ext cx="320040" cy="22860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System Architecture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49808" cy="50292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Three course stages integrated into one sensor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777240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04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273552" cy="3401568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3273552" cy="502920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2999232" cy="2103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AECD • ANALOG FRONT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48840"/>
            <a:ext cx="2926080" cy="233172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Piezo sensor + 1 MΩ load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Spike protection: 1N4148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AC coupling + 1.65 V bias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Non-inverting gain ≈ 22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Sallen-Key LPF ≈ 408 Hz + buffer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17320"/>
            <a:ext cx="3273552" cy="3401568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273552" cy="502920"/>
          </a:xfrm>
          <a:prstGeom prst="rect">
            <a:avLst/>
          </a:prstGeom>
          <a:solidFill>
            <a:srgbClr val="5B3E5B"/>
          </a:solidFill>
          <a:ln>
            <a:solidFill>
              <a:srgbClr val="5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2999232" cy="2103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SIGNAL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2926080" cy="233172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ESP32 ADC: 2 kHz, 12-bit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1-second window (2000 samples)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Hamming FIR band-pass: 5–400 Hz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Hanning window + FFT / RMS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Six-element feature vector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1417320"/>
            <a:ext cx="3273552" cy="3401568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45552" y="1417320"/>
            <a:ext cx="3273552" cy="502920"/>
          </a:xfrm>
          <a:prstGeom prst="rect">
            <a:avLst/>
          </a:prstGeom>
          <a:solidFill>
            <a:srgbClr val="CA9746"/>
          </a:solidFill>
          <a:ln>
            <a:solidFill>
              <a:srgbClr val="CA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82712" y="1554480"/>
            <a:ext cx="2999232" cy="2103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2148840"/>
            <a:ext cx="2926080" cy="233172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Labelled windows: 4 classes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Decision Tree: depth 4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Random Forest: 100 trees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Evaluate accuracy, precision,</a:t>
            </a:r>
          </a:p>
          <a:p>
            <a:pPr>
              <a:spcAft>
                <a:spcPts val="1000"/>
              </a:spcAft>
              <a:defRPr sz="12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recall, F1-score + confusion matrix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77639" y="3054096"/>
            <a:ext cx="210313" cy="0"/>
          </a:xfrm>
          <a:prstGeom prst="line">
            <a:avLst/>
          </a:prstGeom>
          <a:ln w="25400">
            <a:solidFill>
              <a:srgbClr val="BF5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71231" y="3054096"/>
            <a:ext cx="210313" cy="0"/>
          </a:xfrm>
          <a:prstGeom prst="line">
            <a:avLst/>
          </a:prstGeom>
          <a:ln w="25400">
            <a:solidFill>
              <a:srgbClr val="5B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011680" y="5230368"/>
            <a:ext cx="8183879" cy="713232"/>
          </a:xfrm>
          <a:prstGeom prst="roundRect">
            <a:avLst/>
          </a:prstGeom>
          <a:solidFill>
            <a:srgbClr val="FFFDF9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40280" y="5431536"/>
            <a:ext cx="1325880" cy="21945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OUTPUT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5413248"/>
            <a:ext cx="612648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OLED class display  •  LED activity indicator  •  Buzzer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6144768"/>
            <a:ext cx="1005840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Controller / target: ESP32 or STM32 with ADC; lightweight on-device inference is a planned extension.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6473952"/>
            <a:ext cx="320040" cy="22860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Tools, Technologies &amp; Key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49808" cy="50292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Design choices currently specified in the 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777240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05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3474720" cy="196596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298448"/>
            <a:ext cx="54864" cy="1965960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444751"/>
            <a:ext cx="3108960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3090672" cy="1344167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Piezoelectric vibration transducer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LM358 or TL072 op-amp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ESP32 / STM32 microcontroller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OLED, LED and buzzer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298448"/>
            <a:ext cx="3474720" cy="196596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1298448"/>
            <a:ext cx="54864" cy="1965960"/>
          </a:xfrm>
          <a:prstGeom prst="rect">
            <a:avLst/>
          </a:prstGeom>
          <a:solidFill>
            <a:srgbClr val="5B3E5B"/>
          </a:solidFill>
          <a:ln>
            <a:solidFill>
              <a:srgbClr val="5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44751"/>
            <a:ext cx="3108960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5FBEF0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28800"/>
            <a:ext cx="3090672" cy="1344167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Python, NumPy and SciPy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scikit-learn classifiers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Multisim circuit simulation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Wokwi / breadboard test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98448"/>
            <a:ext cx="3474720" cy="196596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298448"/>
            <a:ext cx="54864" cy="1965960"/>
          </a:xfrm>
          <a:prstGeom prst="rect">
            <a:avLst/>
          </a:prstGeom>
          <a:solidFill>
            <a:srgbClr val="CA9746"/>
          </a:solidFill>
          <a:ln>
            <a:solidFill>
              <a:srgbClr val="CA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444751"/>
            <a:ext cx="3108960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FFBE5C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SIGNAL / ML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28800"/>
            <a:ext cx="3090672" cy="1344167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Sampling rate: 2,000 Hz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FIR: 101 taps, Hamming window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Band-pass: 5–400 Hz</a:t>
            </a:r>
          </a:p>
          <a:p>
            <a:pPr>
              <a:spcAft>
                <a:spcPts val="7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Decision Tree depth 4; RF 100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3657600" cy="2468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IMPORTANT ANALOG DESIGN 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33087"/>
            <a:ext cx="3429000" cy="603504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224527"/>
            <a:ext cx="1874519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Bias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39" y="4224527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1.65 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133087"/>
            <a:ext cx="3429000" cy="603504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4224527"/>
            <a:ext cx="1874519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Amplifier gain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4224527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≈ 22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33087"/>
            <a:ext cx="3429000" cy="603504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4224527"/>
            <a:ext cx="1874519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Analog low-pass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4224527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≈ 408 Hz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56048"/>
            <a:ext cx="3429000" cy="603504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047488"/>
            <a:ext cx="1874519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AC-coupling corner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39" y="5047488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≈ 3.2 Hz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4956048"/>
            <a:ext cx="3429000" cy="603504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5047488"/>
            <a:ext cx="1874519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Window length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5047488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1 second / 2,000 samples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FFBE5C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The analog front end is specified by design calculations; its bench verification remains part of the next phase.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6473952"/>
            <a:ext cx="320040" cy="22860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Work Completed &amp; Preliminary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49808" cy="50292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Signal-processing and ML pipeline tested on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777240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06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3794760" cy="452628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CURRENT IMPLEMENTED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29968"/>
            <a:ext cx="3200400" cy="32004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960 synthetic one-second windows</a:t>
            </a:r>
          </a:p>
          <a:p>
            <a:pPr>
              <a:spcAft>
                <a:spcPts val="12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240 windows per class</a:t>
            </a:r>
          </a:p>
          <a:p>
            <a:pPr>
              <a:spcAft>
                <a:spcPts val="12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720 training / 240 test windows</a:t>
            </a:r>
          </a:p>
          <a:p>
            <a:pPr>
              <a:spcAft>
                <a:spcPts val="12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FIR filtering and six-feature extraction</a:t>
            </a:r>
          </a:p>
          <a:p>
            <a:pPr>
              <a:spcAft>
                <a:spcPts val="12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Decision Tree and Random Forest trained</a:t>
            </a:r>
          </a:p>
          <a:p>
            <a:pPr>
              <a:spcAft>
                <a:spcPts val="1200"/>
              </a:spcAft>
              <a:defRPr sz="130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• Five-fold cross-validation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257800"/>
            <a:ext cx="3200400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FFBE5C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Important limitation: results are from synthetic data, not real field recordings.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481328"/>
            <a:ext cx="603504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TEST ACCURACY (240-WINDOW TEST 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Decision Tree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167128"/>
            <a:ext cx="4069080" cy="310896"/>
          </a:xfrm>
          <a:prstGeom prst="roundRect">
            <a:avLst/>
          </a:prstGeom>
          <a:solidFill>
            <a:srgbClr val="FFFDF9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12280" y="2167128"/>
            <a:ext cx="2746629" cy="310896"/>
          </a:xfrm>
          <a:prstGeom prst="roundRect">
            <a:avLst/>
          </a:prstGeom>
          <a:solidFill>
            <a:srgbClr val="5B3E5B"/>
          </a:solidFill>
          <a:ln>
            <a:solidFill>
              <a:srgbClr val="5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7080" y="2139696"/>
            <a:ext cx="658368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400" b="1">
                <a:solidFill>
                  <a:srgbClr val="5FBEF0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67.5%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Random Forest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172968"/>
            <a:ext cx="4069080" cy="310896"/>
          </a:xfrm>
          <a:prstGeom prst="roundRect">
            <a:avLst/>
          </a:prstGeom>
          <a:solidFill>
            <a:srgbClr val="FFFDF9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12280" y="3172968"/>
            <a:ext cx="3068086" cy="310896"/>
          </a:xfrm>
          <a:prstGeom prst="round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27080" y="3145536"/>
            <a:ext cx="658368" cy="29260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4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75.4%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977639"/>
            <a:ext cx="6172200" cy="1325880"/>
          </a:xfrm>
          <a:prstGeom prst="roundRect">
            <a:avLst/>
          </a:prstGeom>
          <a:solidFill>
            <a:srgbClr val="F8F5EF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38928" y="4187952"/>
            <a:ext cx="292608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5-FOLD CROSS-VALIDATION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4553712"/>
            <a:ext cx="269748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Decision Tree  0.809 ± 0.052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553712"/>
            <a:ext cx="274320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Random Forest  0.864 ± 0.065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577840"/>
            <a:ext cx="6126480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Interpretation: Random Forest performed better in the current synthetic-data evaluation. Field accuracy is not yet established.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6473952"/>
            <a:ext cx="320040" cy="22860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Validation Plan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96112"/>
            <a:ext cx="749808" cy="50292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804672"/>
            <a:ext cx="987552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Priorities leading to Review 4: validate the physical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777240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AEBFCD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07 / 07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1389888"/>
            <a:ext cx="438912" cy="438912"/>
          </a:xfrm>
          <a:prstGeom prst="ellipse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99616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Verify circuit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353312"/>
            <a:ext cx="7818120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Simulate in Multisim; build breadboard front end; check 5 V rail, 1.65 V bias and gain ≈ 22.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221992"/>
            <a:ext cx="438912" cy="438912"/>
          </a:xfrm>
          <a:prstGeom prst="ellipse">
            <a:avLst/>
          </a:prstGeom>
          <a:solidFill>
            <a:srgbClr val="5B3E5B"/>
          </a:solidFill>
          <a:ln>
            <a:solidFill>
              <a:srgbClr val="5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331720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85416"/>
            <a:ext cx="205740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5FBEF0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Capture real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85416"/>
            <a:ext cx="7818120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Connect sensor to controller; sample at 2 kHz; inspect waveforms and ADC range.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054096"/>
            <a:ext cx="438912" cy="438912"/>
          </a:xfrm>
          <a:prstGeom prst="ellipse">
            <a:avLst/>
          </a:prstGeom>
          <a:solidFill>
            <a:srgbClr val="CA9746"/>
          </a:solidFill>
          <a:ln>
            <a:solidFill>
              <a:srgbClr val="CA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163824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17520"/>
            <a:ext cx="205740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FBE5C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Build labelled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017520"/>
            <a:ext cx="7818120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Record quiet, footsteps, light vehicle and other vibration at different distances / surfaces.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3886200"/>
            <a:ext cx="438912" cy="438912"/>
          </a:xfrm>
          <a:prstGeom prst="ellipse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995928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49624"/>
            <a:ext cx="205740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34D3BE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Retrain + 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849624"/>
            <a:ext cx="7818120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Compare classifiers on real data; report accuracy, precision, recall, F1 and confusion matrix.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4718304"/>
            <a:ext cx="438912" cy="438912"/>
          </a:xfrm>
          <a:prstGeom prst="ellipse">
            <a:avLst/>
          </a:prstGeom>
          <a:solidFill>
            <a:srgbClr val="5B3E5B"/>
          </a:solidFill>
          <a:ln>
            <a:solidFill>
              <a:srgbClr val="5B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4828032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723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681728"/>
            <a:ext cx="205740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5FBEF0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Integrate live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681728"/>
            <a:ext cx="7818120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Show class on OLED; activate LED / buzzer; explore ESP32 inference.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715000"/>
            <a:ext cx="10561320" cy="530352"/>
          </a:xfrm>
          <a:prstGeom prst="roundRect">
            <a:avLst/>
          </a:prstGeom>
          <a:solidFill>
            <a:srgbClr val="FFFDF9"/>
          </a:solidFill>
          <a:ln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870448"/>
            <a:ext cx="1014984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4F8FB"/>
                </a:solidFill>
                <a:latin typeface="Aptos"/>
              </a:defRPr>
            </a:pPr>
            <a:r>
              <a:rPr>
                <a:solidFill>
                  <a:srgbClr val="2B2730"/>
                </a:solidFill>
              </a:rPr>
              <a:t>SUCCESS CHECKS: stable analog output • no ADC saturation • 2 kHz sampling ±1% • ≥100 real windows per class • correct live class / alert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6473952"/>
            <a:ext cx="320040" cy="22860"/>
          </a:xfrm>
          <a:prstGeom prst="rect">
            <a:avLst/>
          </a:prstGeom>
          <a:solidFill>
            <a:srgbClr val="BF5D44"/>
          </a:solidFill>
          <a:ln>
            <a:solidFill>
              <a:srgbClr val="BF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894</Words>
  <Application>Microsoft Office PowerPoint</Application>
  <PresentationFormat>Widescreen</PresentationFormat>
  <Paragraphs>150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Sravya Kamisetti</dc:creator>
  <cp:keywords/>
  <dc:description>generated using python-pptx</dc:description>
  <cp:lastModifiedBy>Sravya Kamisetti</cp:lastModifiedBy>
  <cp:revision>2</cp:revision>
  <dcterms:created xsi:type="dcterms:W3CDTF">2013-01-27T09:14:16Z</dcterms:created>
  <dcterms:modified xsi:type="dcterms:W3CDTF">2026-10-23T16:22:25Z</dcterms:modified>
  <cp:category/>
</cp:coreProperties>
</file>