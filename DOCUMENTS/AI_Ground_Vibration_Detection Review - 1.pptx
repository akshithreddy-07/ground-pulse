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0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92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92332"/>
                </a:solidFill>
              </a:defRPr>
            </a:pPr>
            <a:r>
              <a:t>AI-Based Ground Vibration Detection</a:t>
            </a:r>
          </a:p>
          <a:p>
            <a:pPr>
              <a:defRPr sz="2700">
                <a:solidFill>
                  <a:srgbClr val="205D8A"/>
                </a:solidFill>
              </a:defRPr>
            </a:pPr>
            <a:r>
              <a:t>Human / Vehicle Activity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A6470"/>
                </a:solidFill>
              </a:defRPr>
            </a:pPr>
            <a:r>
              <a:t>An integrated AECD + Signal Processing + Machine Learning safety-monitoring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16052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4160520"/>
            <a:ext cx="64008" cy="11430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429768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AECD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727448"/>
            <a:ext cx="2446504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Capture &amp; condition the weak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 vibration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16052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4160520"/>
            <a:ext cx="64008" cy="114300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429768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SIGNAL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4727448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Clean, analyze &amp; extract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416052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4160520"/>
            <a:ext cx="64008" cy="114300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4297680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4727448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Classify activity &amp; generate an alert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1. Problem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0"/>
                </a:solidFill>
              </a:defRPr>
            </a:pPr>
            <a:r>
              <a:t>Detect meaningful ground vibration and identify the activity behind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Ground vibrations can indicate nearby activity when optical monitoring is difficult.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Camera-based systems can be limited by darkness, fog, dust, foliage or line-of-sight.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Our system senses vibration, processes it and uses ML to classify the activity.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Prototype classes: No activity, Human footsteps, Light vehicle, Other vibration.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3931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79" y="1463040"/>
            <a:ext cx="64008" cy="105156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9248" y="160020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2029968"/>
            <a:ext cx="35661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Mechanical vibration in the ground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880360"/>
            <a:ext cx="3931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2880360"/>
            <a:ext cx="64008" cy="105156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9248" y="301752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CORE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3447288"/>
            <a:ext cx="35661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AECD → SP → 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297680"/>
            <a:ext cx="3931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4297680"/>
            <a:ext cx="64008" cy="105156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9248" y="443484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4864608"/>
            <a:ext cx="35661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Activity class + alert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2. How AECD, SP and ML are interlinked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0312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2103120"/>
            <a:ext cx="64008" cy="18288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2240279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670048"/>
            <a:ext cx="1600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Piezo / vibration sensor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3017520"/>
            <a:ext cx="301752" cy="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210312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0" y="2103120"/>
            <a:ext cx="64008" cy="18288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2240279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AECD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670048"/>
            <a:ext cx="1600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Amplifier + active filter</a:t>
            </a:r>
            <a:br/>
            <a:r>
              <a:t>+ buffer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3017520"/>
            <a:ext cx="301752" cy="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10312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74920" y="2103120"/>
            <a:ext cx="64008" cy="182880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76088" y="2240279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670048"/>
            <a:ext cx="1600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Sampling + digital filter</a:t>
            </a:r>
            <a:br/>
            <a:r>
              <a:t>+ FFT + RMS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79" y="3017520"/>
            <a:ext cx="301752" cy="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210312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0" y="2103120"/>
            <a:ext cx="64008" cy="182880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7808" y="2240279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670048"/>
            <a:ext cx="1600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Features → classifier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72600" y="3017520"/>
            <a:ext cx="301752" cy="0"/>
          </a:xfrm>
          <a:prstGeom prst="line">
            <a:avLst/>
          </a:prstGeom>
          <a:ln w="31750">
            <a:solidFill>
              <a:srgbClr val="5A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38359" y="210312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38359" y="2103120"/>
            <a:ext cx="64008" cy="1828800"/>
          </a:xfrm>
          <a:prstGeom prst="rect">
            <a:avLst/>
          </a:prstGeom>
          <a:solidFill>
            <a:srgbClr val="5A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39528" y="2240279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A6470"/>
                </a:solidFill>
              </a:defRPr>
            </a:pPr>
            <a:r>
              <a:t>ALERT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2670048"/>
            <a:ext cx="1600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OLED / LED / buzzer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6177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" y="4617720"/>
            <a:ext cx="64008" cy="9144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5568" y="4754880"/>
            <a:ext cx="9875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KEY IDEA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184648"/>
            <a:ext cx="9875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The output of one subject becomes the input to the next: Electronics → Signal → Features →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3. AECD: Making the weak sensor signal usable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Piezoelectric vibration sensor converts mechanical vibration into a small electrical signal.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LM358 / suitable op-amp provides amplification and buffering.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An active band-pass / low-pass stage removes unwanted frequency content.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Anti-aliasing filtering prepares the signal before ADC sampling.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Decoupling and clean grounding improve measurement reliability.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41732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35240" y="1417320"/>
            <a:ext cx="64008" cy="9144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36408" y="1554480"/>
            <a:ext cx="3383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SENSOR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1984248"/>
            <a:ext cx="3383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Piezo vibration transducer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60604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606040"/>
            <a:ext cx="64008" cy="9144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743200"/>
            <a:ext cx="3383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AMPLIFIER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3172968"/>
            <a:ext cx="3383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LM358 / TL072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79476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3794760"/>
            <a:ext cx="64008" cy="91440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3931920"/>
            <a:ext cx="3383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361688"/>
            <a:ext cx="3383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Active band-pass / LPF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4983480"/>
            <a:ext cx="3749039" cy="842303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4983480"/>
            <a:ext cx="64008" cy="73152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36408" y="5120640"/>
            <a:ext cx="3383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5550408"/>
            <a:ext cx="3383279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Conditioned analog signal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4. Signal Processing: From vibration to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583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Sample the conditioned signal using the microcontroller ADC.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Use digital FIR/IIR filtering to suppress unwanted noise.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FFT shows the frequency content of the vibration.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RMS measures signal energy and helps distinguish weak and strong events.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Extract features such as RMS, dominant frequency, peak amplitude and band energy.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371600"/>
            <a:ext cx="3886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43800" y="1371600"/>
            <a:ext cx="64008" cy="91440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44968" y="1508760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TIME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4968" y="1938528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Waveform + 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606040"/>
            <a:ext cx="3886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2606040"/>
            <a:ext cx="64008" cy="91440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8" y="2743200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FREQUENCY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3172968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FFT + dominant frequency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840480"/>
            <a:ext cx="3886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3840480"/>
            <a:ext cx="64008" cy="91440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44968" y="3977640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FEATURE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4407408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Numbers supplied to 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5074921"/>
            <a:ext cx="3886200" cy="914399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5074920"/>
            <a:ext cx="64008" cy="6858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44968" y="5212080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5641848"/>
            <a:ext cx="352044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Clean, informative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5. Machine Learning: Classifying the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Collect labelled vibration recordings for each activity class.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Convert each recording window into a feature vector from the SP stage.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Train a lightweight Decision Tree or Random Forest classifier.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Evaluate with accuracy, precision, recall, F1-score and a confusion matrix.</a:t>
            </a:r>
          </a:p>
          <a:p>
            <a:pPr>
              <a:spcAft>
                <a:spcPts val="1000"/>
              </a:spcAft>
              <a:defRPr sz="1800">
                <a:solidFill>
                  <a:srgbClr val="192332"/>
                </a:solidFill>
              </a:defRPr>
            </a:pPr>
            <a:r>
              <a:t>If feasible, deploy the lightweight model for real-time embedded inference.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41732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35240" y="1417320"/>
            <a:ext cx="64008" cy="91440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36408" y="1554480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INPUT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198424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RMS | FFT | Peaks | Band energy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60604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606040"/>
            <a:ext cx="64008" cy="91440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743200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317296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Decision Tree / Random Forest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79476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3794760"/>
            <a:ext cx="64008" cy="91440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3931920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36168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Human | Vehicle | Other | None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983480"/>
            <a:ext cx="3657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4983480"/>
            <a:ext cx="64008" cy="73152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36408" y="5120640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5550408"/>
            <a:ext cx="329184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Class + alert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6. Real-World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0"/>
                </a:solidFill>
              </a:defRPr>
            </a:pPr>
            <a:r>
              <a:t>Potential civilian and industrial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8288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0876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3272947" cy="7617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Monitor restricted areas,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 construction zones and isolated facilities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 for unusual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64008" cy="182880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0876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INDUSTRIAL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38528"/>
            <a:ext cx="2928109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Detect abnormal vibration around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machinery, access zones or facilities.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64008" cy="182880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0876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SMART-CITY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38528"/>
            <a:ext cx="3271408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Complement cameras and other sensors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with low-power ground sensing.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64008" cy="18288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79476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LOW LINE-OF-SIGHT DEPENDENCE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24528"/>
            <a:ext cx="3282822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Ground vibration can complement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optical monitoring when visibility is poor.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64008" cy="182880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79476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EDGE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224528"/>
            <a:ext cx="3244093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Local processing can reduce the need to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stream raw sensor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3657600"/>
            <a:ext cx="64008" cy="182880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8" y="379476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SCALABLE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224528"/>
            <a:ext cx="2868349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Multiple sensor nodes could feed a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central dashboard in future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7. Components &amp;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9144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63039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SENSOR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92807"/>
            <a:ext cx="49377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Piezoelectric vibration transducer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64008" cy="9144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651760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ANALOG FRONT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081528"/>
            <a:ext cx="49377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LM358/TL072 + R/C network + active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64008" cy="91440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840480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270248"/>
            <a:ext cx="49377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ESP32 or STM32 with ADC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9204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4892040"/>
            <a:ext cx="64008" cy="91440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5029200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5458968"/>
            <a:ext cx="49377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OLED + LED/buzzer 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32588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64008" cy="91440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1463039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DSP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3335" y="1564953"/>
            <a:ext cx="3473771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Python/NumPy/SciPy during development;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embedded DSP for final prototype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51460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2514600"/>
            <a:ext cx="64008" cy="91440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265176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08152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Scikit-learn Decision Tree / Random Forest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703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3703320"/>
            <a:ext cx="64008" cy="91440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8" y="384048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DATASET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27024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Self-collected, labelled vibration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89204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892040"/>
            <a:ext cx="64008" cy="914400"/>
          </a:xfrm>
          <a:prstGeom prst="rect">
            <a:avLst/>
          </a:prstGeom>
          <a:solidFill>
            <a:srgbClr val="5A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502920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A6470"/>
                </a:solidFill>
              </a:defRPr>
            </a:pPr>
            <a:r>
              <a:t>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45896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Real-time activity detection + alert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9. Why this is a strong integrated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3474720"/>
          </a:xfrm>
          <a:prstGeom prst="rect">
            <a:avLst/>
          </a:prstGeom>
          <a:solidFill>
            <a:srgbClr val="205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05D8A"/>
                </a:solidFill>
              </a:defRPr>
            </a:pPr>
            <a:r>
              <a:t>AECD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3025315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We physically acquire and condition a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 weak sensor signal using amplifiers,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active filters, buffers, power and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grounding.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3474720"/>
          </a:xfrm>
          <a:prstGeom prst="rect">
            <a:avLst/>
          </a:prstGeom>
          <a:solidFill>
            <a:srgbClr val="34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544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825C"/>
                </a:solidFill>
              </a:defRPr>
            </a:pPr>
            <a:r>
              <a:t>SIGNAL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41282" cy="7617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We sample, filter and analyze the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vibration in time/frequency domains,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then create meaningful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64008" cy="3474720"/>
          </a:xfrm>
          <a:prstGeom prst="rect">
            <a:avLst/>
          </a:prstGeom>
          <a:solidFill>
            <a:srgbClr val="BE7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5544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E732D"/>
                </a:solidFill>
              </a:defRPr>
            </a:pPr>
            <a: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984248"/>
            <a:ext cx="3046155" cy="7617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We learn the relationship between 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vibration features and activity classes,</a:t>
            </a:r>
            <a:endParaRPr lang="en-US" dirty="0"/>
          </a:p>
          <a:p>
            <a:pPr>
              <a:defRPr sz="1450">
                <a:solidFill>
                  <a:srgbClr val="192332"/>
                </a:solidFill>
              </a:defRPr>
            </a:pPr>
            <a:r>
              <a:rPr dirty="0"/>
              <a:t> then classify new 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5257799"/>
            <a:ext cx="8321040" cy="1116623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5257800"/>
            <a:ext cx="64008" cy="777240"/>
          </a:xfrm>
          <a:prstGeom prst="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21408" y="5394960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332"/>
                </a:solidFill>
              </a:defRPr>
            </a:pPr>
            <a:r>
              <a:t>ONE CONTINUOUS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5824728"/>
            <a:ext cx="7955279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92332"/>
                </a:solidFill>
              </a:defRPr>
            </a:pPr>
            <a:r>
              <a:t>Physical world → Electronics → Signal → Features → Intelligence → Safety 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707</Words>
  <Application>Microsoft Office PowerPoint</Application>
  <PresentationFormat>Widescreen</PresentationFormat>
  <Paragraphs>132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Cyril</dc:creator>
  <cp:keywords/>
  <dc:description>generated using python-pptx</dc:description>
  <cp:lastModifiedBy>Cyril Raj</cp:lastModifiedBy>
  <cp:revision>2</cp:revision>
  <dcterms:created xsi:type="dcterms:W3CDTF">2013-01-27T09:14:16Z</dcterms:created>
  <dcterms:modified xsi:type="dcterms:W3CDTF">2026-10-23T17:24:40Z</dcterms:modified>
  <cp:category/>
</cp:coreProperties>
</file>