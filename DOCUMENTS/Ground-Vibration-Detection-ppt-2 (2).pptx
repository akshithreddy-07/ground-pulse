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Haettenschweiler" panose="020B0706040902060204" pitchFamily="34" charset="0"/>
      <p:regular r:id="rId13"/>
    </p:embeddedFont>
    <p:embeddedFont>
      <p:font typeface="Inter" panose="02000503000000020004" pitchFamily="2" charset="0"/>
      <p:regular r:id="rId14"/>
      <p:bold r:id="rId15"/>
      <p:italic r:id="rId16"/>
      <p:boldItalic r:id="rId17"/>
    </p:embeddedFont>
    <p:embeddedFont>
      <p:font typeface="Inter Bold" panose="02000503000000020004" pitchFamily="2" charset="0"/>
      <p:bold r:id="rId18"/>
    </p:embeddedFont>
    <p:embeddedFont>
      <p:font typeface="Inter SemiBold" panose="02000503000000020004" pitchFamily="2" charset="0"/>
      <p:bold r:id="rId19"/>
      <p:boldItalic r:id="rId20"/>
    </p:embeddedFont>
    <p:embeddedFont>
      <p:font typeface="JetBrains Mono" panose="020B0604020202020204" charset="0"/>
      <p:regular r:id="rId21"/>
    </p:embeddedFont>
    <p:embeddedFont>
      <p:font typeface="JetBrains Mono Medium" panose="020B0604020202020204" charset="0"/>
      <p:regular r:id="rId22"/>
    </p:embeddedFont>
    <p:embeddedFont>
      <p:font typeface="Mulish SemiBold" panose="020B0604020202020204" charset="0"/>
      <p:regular r:id="rId23"/>
    </p:embeddedFont>
    <p:embeddedFont>
      <p:font typeface="Russo One" panose="020B0604020202020204" charset="0"/>
      <p:regular r:id="rId24"/>
    </p:embeddedFont>
    <p:embeddedFont>
      <p:font typeface="Trade Gothic Next Light" panose="020B04030403030200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721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1">
              <a:rPr lang="en-US" smtClean="0"/>
              <a:t>10/23/2026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9761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039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801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950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1">
              <a:rPr lang="en-US" smtClean="0"/>
              <a:t>10/23/2026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457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199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1">
              <a:rPr lang="en-US" smtClean="0"/>
              <a:t>10/23/2026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0276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1">
              <a:rPr lang="en-US" smtClean="0"/>
              <a:t>10/23/2026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8681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8084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1">
              <a:rPr lang="en-US" smtClean="0"/>
              <a:t>10/23/2026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2898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1">
              <a:rPr lang="en-US" smtClean="0"/>
              <a:t>10/23/2026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0252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1">
              <a:rPr lang="en-US" smtClean="0"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8327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9462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1">
              <a:rPr lang="en-US" smtClean="0"/>
              <a:t>10/23/2026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7938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6691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1">
              <a:rPr lang="en-US" smtClean="0"/>
              <a:t>10/23/2026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40698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13279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16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1">
              <a:rPr lang="en-US" smtClean="0"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219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1">
              <a:rPr lang="en-US" smtClean="0"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70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1">
              <a:rPr lang="en-US" smtClean="0"/>
              <a:t>10/23/2026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5190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1">
              <a:rPr lang="en-US" smtClean="0"/>
              <a:t>10/23/2026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24392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7676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6514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1">
              <a:rPr lang="en-US" smtClean="0"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400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488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E6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88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611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PROJECT // GROUND VIBRATION DETECTION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5" y="1038820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B23A1C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97798"/>
            <a:ext cx="10972526" cy="1865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7200" kern="100" spc="-72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0"/>
              </a:rPr>
              <a:t>Ground Vibration</a:t>
            </a:r>
            <a:endParaRPr lang="en-US" sz="72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7200" kern="100" spc="-72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0"/>
              </a:rPr>
              <a:t>Detection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09585" y="3520083"/>
            <a:ext cx="1097252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complete sensor-to-alert workflow that turns weak ground motion into live, intelligent classification using AI-based signal processing.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4895255"/>
            <a:ext cx="2072628" cy="1353145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5123855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8179" y="5436910"/>
            <a:ext cx="161543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PIEZO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SENSOR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510" y="4895255"/>
            <a:ext cx="2072628" cy="1353145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0" name="Text 8"/>
          <p:cNvSpPr/>
          <p:nvPr/>
        </p:nvSpPr>
        <p:spPr>
          <a:xfrm>
            <a:off x="3063104" y="5123855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63104" y="5436910"/>
            <a:ext cx="161543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ANALOG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FRONT END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59434" y="4895255"/>
            <a:ext cx="2072727" cy="1353145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3" name="Text 11"/>
          <p:cNvSpPr/>
          <p:nvPr/>
        </p:nvSpPr>
        <p:spPr>
          <a:xfrm>
            <a:off x="5288029" y="5123855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88029" y="5436910"/>
            <a:ext cx="161553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SIGNAL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PROCESSING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84458" y="4895255"/>
            <a:ext cx="2072628" cy="1353145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6" name="Text 14"/>
          <p:cNvSpPr/>
          <p:nvPr/>
        </p:nvSpPr>
        <p:spPr>
          <a:xfrm>
            <a:off x="7513053" y="5123855"/>
            <a:ext cx="8958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13053" y="5436910"/>
            <a:ext cx="161543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ML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CLASSIFIER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09383" y="4895255"/>
            <a:ext cx="2072727" cy="1353145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9" name="Text 17"/>
          <p:cNvSpPr/>
          <p:nvPr/>
        </p:nvSpPr>
        <p:spPr>
          <a:xfrm>
            <a:off x="9737977" y="5123855"/>
            <a:ext cx="88421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737977" y="5436910"/>
            <a:ext cx="161553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SMART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ALERT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9281" cy="6858000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311315"/>
            <a:ext cx="251969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SIGNAL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865630"/>
            <a:ext cx="191011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mV SPIKE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309634"/>
            <a:ext cx="251969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↓ Amp · LPF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999700"/>
            <a:ext cx="191011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0–3.3 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443704"/>
            <a:ext cx="251969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↓ ADC · 8 kHz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4133771"/>
            <a:ext cx="191011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FFT / RMS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577774"/>
            <a:ext cx="251969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↓ Random Forest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5267841"/>
            <a:ext cx="191011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CLASS ID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95955" y="616585"/>
            <a:ext cx="799574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SYSTEM ARCHITECTURE // OVERVIEW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95955" y="897887"/>
            <a:ext cx="738615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One signal, five transformations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95955" y="1449388"/>
            <a:ext cx="7386155" cy="3659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PIEZO SENSOR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Converts mechanical ground vibration into millivolt-level electrical signals.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ANALOG FRONT END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Amplification, biasing, and low-pass filtering (100Hz cutoff).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SIGNAL PROCESSING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ADC sampling, software filtering, and feature extraction (FFT/RMS).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ML CLASSIFIER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Random Forest model predicts activity class from extracted features.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SMART ALERT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​"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Visual (OLED) and audible/visual (Buzzer/LED) feedback.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195955" y="5356324"/>
            <a:ext cx="2771606" cy="38100"/>
          </a:xfrm>
          <a:prstGeom prst="roundRect">
            <a:avLst>
              <a:gd name="adj" fmla="val 49999"/>
            </a:avLst>
          </a:prstGeom>
          <a:solidFill>
            <a:srgbClr val="B23A1C"/>
          </a:solidFill>
          <a:ln/>
        </p:spPr>
      </p:sp>
      <p:sp>
        <p:nvSpPr>
          <p:cNvPr id="15" name="Text 13"/>
          <p:cNvSpPr/>
          <p:nvPr/>
        </p:nvSpPr>
        <p:spPr>
          <a:xfrm>
            <a:off x="4195955" y="5582384"/>
            <a:ext cx="27716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4D5D6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ANALOG DOMAIN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24651" y="5356324"/>
            <a:ext cx="4157459" cy="38100"/>
          </a:xfrm>
          <a:prstGeom prst="roundRect">
            <a:avLst>
              <a:gd name="adj" fmla="val 49999"/>
            </a:avLst>
          </a:prstGeom>
          <a:solidFill>
            <a:srgbClr val="A9BCC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4651" y="5582384"/>
            <a:ext cx="415745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4D5D6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DIGITAL DOMAIN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SUBJECT 1 // ANALOG CONDITIONING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7887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AECD: Make the signal usable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449388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1751608"/>
            <a:ext cx="1219170" cy="1905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867813"/>
            <a:ext cx="121917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PIEZO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81150" y="1449388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981150" y="1751608"/>
            <a:ext cx="1219170" cy="1905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9" name="Text 7"/>
          <p:cNvSpPr/>
          <p:nvPr/>
        </p:nvSpPr>
        <p:spPr>
          <a:xfrm>
            <a:off x="1981150" y="1867813"/>
            <a:ext cx="121917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AMP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(G=21)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52716" y="1449388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52716" y="1751608"/>
            <a:ext cx="1219170" cy="1905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716" y="1867813"/>
            <a:ext cx="121917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LPF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(100Hz)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4282" y="1449388"/>
            <a:ext cx="8958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724282" y="1751608"/>
            <a:ext cx="1219170" cy="1905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15" name="Text 13"/>
          <p:cNvSpPr/>
          <p:nvPr/>
        </p:nvSpPr>
        <p:spPr>
          <a:xfrm>
            <a:off x="4724282" y="1867813"/>
            <a:ext cx="121917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BUFFER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577703"/>
          <a:ext cx="5333866" cy="2185535"/>
        </p:xfrm>
        <a:graphic>
          <a:graphicData uri="http://schemas.openxmlformats.org/drawingml/2006/table">
            <a:tbl>
              <a:tblPr/>
              <a:tblGrid>
                <a:gridCol w="1706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OP-AMP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LM358 Dual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BIASING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4.5V Virtual GND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LPF CUTOFF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 Hz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6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SUPPLY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9V DC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248244" y="1460818"/>
            <a:ext cx="533386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DESIGN OBJECTIVES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48244" y="1904821"/>
            <a:ext cx="533386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Amplification: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Raises millivolt-level piezo spikes to a usable 0-3.3V range for the ESP32 ADC.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248244" y="2988092"/>
            <a:ext cx="533386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Single-Supply Biasing: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Creates a stable virtual ground at Vcc/2, allowing the AC vibration signal to swing without clipping.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248244" y="4384397"/>
            <a:ext cx="533386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Hardware Filtering: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RC low-pass filter removes high-frequency electrical noise and irrelevant vibrations above 100Hz.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248244" y="5780703"/>
            <a:ext cx="533386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Impedance Matching: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Final buffer stage ensures the signal isn't loaded down by the ADC input.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248244" y="2750443"/>
            <a:ext cx="5333867" cy="12700"/>
          </a:xfrm>
          <a:prstGeom prst="rect">
            <a:avLst/>
          </a:prstGeom>
          <a:solidFill>
            <a:srgbClr val="A9BCC6"/>
          </a:solidFill>
          <a:ln/>
        </p:spPr>
      </p:sp>
      <p:sp>
        <p:nvSpPr>
          <p:cNvPr id="23" name="Shape 20"/>
          <p:cNvSpPr/>
          <p:nvPr/>
        </p:nvSpPr>
        <p:spPr>
          <a:xfrm>
            <a:off x="6248244" y="4146748"/>
            <a:ext cx="5333867" cy="12700"/>
          </a:xfrm>
          <a:prstGeom prst="rect">
            <a:avLst/>
          </a:prstGeom>
          <a:solidFill>
            <a:srgbClr val="A9BCC6"/>
          </a:solidFill>
          <a:ln/>
        </p:spPr>
      </p:sp>
      <p:sp>
        <p:nvSpPr>
          <p:cNvPr id="24" name="Shape 21"/>
          <p:cNvSpPr/>
          <p:nvPr/>
        </p:nvSpPr>
        <p:spPr>
          <a:xfrm>
            <a:off x="6248244" y="5543054"/>
            <a:ext cx="5333867" cy="12700"/>
          </a:xfrm>
          <a:prstGeom prst="rect">
            <a:avLst/>
          </a:prstGeom>
          <a:solidFill>
            <a:srgbClr val="A9BCC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731501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SUBJECT 2 // DIGITAL SIGNAL 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7887"/>
            <a:ext cx="670543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Signal processing: Expose the pattern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394" y="0"/>
            <a:ext cx="3962301" cy="2967633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5" name="Text 3"/>
          <p:cNvSpPr/>
          <p:nvPr/>
        </p:nvSpPr>
        <p:spPr>
          <a:xfrm>
            <a:off x="8838979" y="616585"/>
            <a:ext cx="335271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SAMPLE WINDOW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38979" y="1180462"/>
            <a:ext cx="2743131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B23A1C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 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38979" y="1734661"/>
            <a:ext cx="274313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16,000 samples @ 8000 Hz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3272334"/>
            <a:ext cx="3962301" cy="3550146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3893364"/>
            <a:ext cx="274313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1. SAMPLING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4337367"/>
            <a:ext cx="2743131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ESP32 ADC captures the signal at </a:t>
            </a: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8000 Hz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 Data is buffered into </a:t>
            </a: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2-second windows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(16,000 samples) for analysis.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14697" y="3272334"/>
            <a:ext cx="3962301" cy="3550146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2" name="Text 10"/>
          <p:cNvSpPr/>
          <p:nvPr/>
        </p:nvSpPr>
        <p:spPr>
          <a:xfrm>
            <a:off x="4724282" y="3893364"/>
            <a:ext cx="274313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2. SOFTWARE FILTER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4282" y="4337367"/>
            <a:ext cx="2743131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4th-order </a:t>
            </a: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Butterworth Low-Pass Filter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(100Hz cutoff) is applied in software to further isolate the ground vibration signatures.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394" y="3272334"/>
            <a:ext cx="3962301" cy="3550146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5" name="Text 13"/>
          <p:cNvSpPr/>
          <p:nvPr/>
        </p:nvSpPr>
        <p:spPr>
          <a:xfrm>
            <a:off x="8838979" y="3893364"/>
            <a:ext cx="274313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3. FEATURE EXTRACTION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38979" y="4634528"/>
            <a:ext cx="2743131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raw window is compressed into four key mathematical features that define the vibration "fingerprint":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0" y="7127180"/>
            <a:ext cx="2933627" cy="2066230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7743765"/>
            <a:ext cx="2324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RMS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585" y="8298081"/>
            <a:ext cx="171445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Energy Level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086023" y="7127180"/>
            <a:ext cx="2933627" cy="2066230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608" y="7743765"/>
            <a:ext cx="2324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PEAK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95608" y="8298081"/>
            <a:ext cx="171445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Max Amplitude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72046" y="7127180"/>
            <a:ext cx="2933627" cy="2066230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24" name="Text 22"/>
          <p:cNvSpPr/>
          <p:nvPr/>
        </p:nvSpPr>
        <p:spPr>
          <a:xfrm>
            <a:off x="6781630" y="7743765"/>
            <a:ext cx="2324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DOMINANT FREQ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81630" y="8298081"/>
            <a:ext cx="171445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Spectral Peak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58068" y="7127180"/>
            <a:ext cx="2933627" cy="2066230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27" name="Text 25"/>
          <p:cNvSpPr/>
          <p:nvPr/>
        </p:nvSpPr>
        <p:spPr>
          <a:xfrm>
            <a:off x="9867653" y="7743765"/>
            <a:ext cx="2324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BAND ENERGY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67653" y="8298081"/>
            <a:ext cx="171445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1-50Hz Power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438139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SUBJECT 3 // DATA COLLECTION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7887"/>
            <a:ext cx="438139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Data collection: Teach the system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728510"/>
            <a:ext cx="438139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PROTOCOL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169815"/>
            <a:ext cx="4381390" cy="3605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Fixed Placement: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Sensor taped to a consistent surface to maintain gain integrity.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Class Diversity: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20-30 samples per class (No activity, Footsteps, Vehicle, Other).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Immediate Labeling: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Filenames indexed by class (e.g., footsteps_001.wav) to prevent drift.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Windowing: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Each sample is a discrete 2-second capture.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8164" y="609600"/>
          <a:ext cx="6133947" cy="3046534"/>
        </p:xfrm>
        <a:graphic>
          <a:graphicData uri="http://schemas.openxmlformats.org/drawingml/2006/table">
            <a:tbl>
              <a:tblPr/>
              <a:tblGrid>
                <a:gridCol w="134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3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09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RMS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PEAK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DOM FREQ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LABEL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0.0042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0.012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12.5 Hz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No Activity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0.0850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0.420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24.0 Hz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Footsteps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0.1420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0.680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48.5 Hz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Vehicle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6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0.0560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0.210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110.0 Hz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Other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48164" y="3790196"/>
            <a:ext cx="613394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4D5D6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Target: 100+ rows in dataset.csv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9585" y="5975786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4D5D6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Structured samples connect each 2-second capture to a known class and a measurable fingerprint.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SUBJECT 4 // 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7887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Machine learning: Classify the event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585" y="1449388"/>
            <a:ext cx="4267093" cy="4799013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684972"/>
            <a:ext cx="403849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FEATURE VECTOR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8179" y="2061805"/>
            <a:ext cx="3809905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RMS · PEAK · FREQ · BAND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38179" y="2609453"/>
            <a:ext cx="3809905" cy="38100"/>
          </a:xfrm>
          <a:prstGeom prst="roundRect">
            <a:avLst>
              <a:gd name="adj" fmla="val 49999"/>
            </a:avLst>
          </a:prstGeom>
          <a:solidFill>
            <a:srgbClr val="B23A1C"/>
          </a:solidFill>
          <a:ln/>
        </p:spPr>
      </p:sp>
      <p:sp>
        <p:nvSpPr>
          <p:cNvPr id="8" name="Shape 6"/>
          <p:cNvSpPr/>
          <p:nvPr/>
        </p:nvSpPr>
        <p:spPr>
          <a:xfrm>
            <a:off x="838179" y="2828528"/>
            <a:ext cx="1828754" cy="1179116"/>
          </a:xfrm>
          <a:prstGeom prst="roundRect">
            <a:avLst>
              <a:gd name="adj" fmla="val 7690"/>
            </a:avLst>
          </a:prstGeom>
          <a:solidFill>
            <a:srgbClr val="D3E1E8"/>
          </a:solidFill>
          <a:ln/>
        </p:spPr>
      </p:sp>
      <p:sp>
        <p:nvSpPr>
          <p:cNvPr id="9" name="Text 7"/>
          <p:cNvSpPr/>
          <p:nvPr/>
        </p:nvSpPr>
        <p:spPr>
          <a:xfrm>
            <a:off x="1066773" y="3064113"/>
            <a:ext cx="16001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Random Forest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6773" y="3440946"/>
            <a:ext cx="137156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50 Trees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2819329" y="2828528"/>
            <a:ext cx="1828754" cy="1179116"/>
          </a:xfrm>
          <a:prstGeom prst="roundRect">
            <a:avLst>
              <a:gd name="adj" fmla="val 7690"/>
            </a:avLst>
          </a:prstGeom>
          <a:solidFill>
            <a:srgbClr val="D3E1E8"/>
          </a:solidFill>
          <a:ln/>
        </p:spPr>
      </p:sp>
      <p:sp>
        <p:nvSpPr>
          <p:cNvPr id="12" name="Text 10"/>
          <p:cNvSpPr/>
          <p:nvPr/>
        </p:nvSpPr>
        <p:spPr>
          <a:xfrm>
            <a:off x="3047924" y="3064113"/>
            <a:ext cx="16001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Max 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47924" y="3440946"/>
            <a:ext cx="137156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 Levels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8179" y="4160044"/>
            <a:ext cx="1828754" cy="1179116"/>
          </a:xfrm>
          <a:prstGeom prst="roundRect">
            <a:avLst>
              <a:gd name="adj" fmla="val 7690"/>
            </a:avLst>
          </a:prstGeom>
          <a:solidFill>
            <a:srgbClr val="D3E1E8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773" y="4395629"/>
            <a:ext cx="16001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Test 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6773" y="4772462"/>
            <a:ext cx="137156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25%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819329" y="4160044"/>
            <a:ext cx="1828754" cy="1179116"/>
          </a:xfrm>
          <a:prstGeom prst="roundRect">
            <a:avLst>
              <a:gd name="adj" fmla="val 7690"/>
            </a:avLst>
          </a:prstGeom>
          <a:solidFill>
            <a:srgbClr val="B23A1C"/>
          </a:solidFill>
          <a:ln/>
        </p:spPr>
      </p:sp>
      <p:sp>
        <p:nvSpPr>
          <p:cNvPr id="18" name="Text 16"/>
          <p:cNvSpPr/>
          <p:nvPr/>
        </p:nvSpPr>
        <p:spPr>
          <a:xfrm>
            <a:off x="3047924" y="4395629"/>
            <a:ext cx="16001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Success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47924" y="4772462"/>
            <a:ext cx="137156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90%+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181371" y="1680686"/>
            <a:ext cx="640073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model acts as a </a:t>
            </a: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multi-class decision engine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, mapping the 4D feature vector to one of four classes: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81371" y="2442488"/>
            <a:ext cx="30479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0: No Activity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81371" y="2886492"/>
            <a:ext cx="304792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Low RMS, low peak, white noise spectrum.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34087" y="2442488"/>
            <a:ext cx="304802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1: Human Footsteps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34087" y="2886492"/>
            <a:ext cx="304802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Rhythmic RMS spikes, low frequency (10-30Hz).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181371" y="3826093"/>
            <a:ext cx="30479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2: Light Vehicle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81371" y="4270097"/>
            <a:ext cx="304792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Sustained high RMS, mid frequency (30-60Hz).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534087" y="3826093"/>
            <a:ext cx="304802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3: Other Vibration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34087" y="4270097"/>
            <a:ext cx="304802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High peak, erratic frequency distribution.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181371" y="5027454"/>
            <a:ext cx="312412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4D5D6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Feature Importance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1371" y="5331738"/>
            <a:ext cx="312412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RMS Energy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181371" y="5821462"/>
            <a:ext cx="2343091" cy="31651"/>
          </a:xfrm>
          <a:prstGeom prst="roundRect">
            <a:avLst>
              <a:gd name="adj" fmla="val 49998"/>
            </a:avLst>
          </a:prstGeom>
          <a:solidFill>
            <a:srgbClr val="B23A1C"/>
          </a:solidFill>
          <a:ln/>
        </p:spPr>
      </p:sp>
      <p:sp>
        <p:nvSpPr>
          <p:cNvPr id="32" name="Text 30"/>
          <p:cNvSpPr/>
          <p:nvPr/>
        </p:nvSpPr>
        <p:spPr>
          <a:xfrm>
            <a:off x="8457889" y="5027454"/>
            <a:ext cx="31242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4D5D6E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Feature Importance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57889" y="5331738"/>
            <a:ext cx="312422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Dominant Frequency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457889" y="5821462"/>
            <a:ext cx="2343091" cy="31651"/>
          </a:xfrm>
          <a:prstGeom prst="roundRect">
            <a:avLst>
              <a:gd name="adj" fmla="val 49998"/>
            </a:avLst>
          </a:prstGeom>
          <a:solidFill>
            <a:srgbClr val="A9BCC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33627" cy="6858000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245036"/>
            <a:ext cx="2324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INTERFACE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799352"/>
            <a:ext cx="171445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ESP32 ⇄ LAPTOP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540516"/>
            <a:ext cx="1714457" cy="63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Serial · raw ADC </a:t>
            </a:r>
            <a:r>
              <a:rPr lang="en-US" sz="17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↔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class ID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3416300"/>
            <a:ext cx="1714457" cy="31651"/>
          </a:xfrm>
          <a:prstGeom prst="roundRect">
            <a:avLst>
              <a:gd name="adj" fmla="val 49998"/>
            </a:avLst>
          </a:prstGeom>
          <a:solidFill>
            <a:srgbClr val="B23A1C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701097"/>
            <a:ext cx="2324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OUTPUTS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585" y="4255413"/>
            <a:ext cx="171445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OLED · BUZZER · LED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996577"/>
            <a:ext cx="171445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GPIO logic-level triggers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000400" y="616585"/>
            <a:ext cx="819129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SUBJECT 5 // SYSTEM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00400" y="897887"/>
            <a:ext cx="758171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Embedded integration: Close the loop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00400" y="1464866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50048" y="1460818"/>
            <a:ext cx="713206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LAPTOP-SERIAL APPROACH (RECOMMENDED)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50048" y="1904821"/>
            <a:ext cx="713206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ESP32 streams raw ADC values over </a:t>
            </a: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Serial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 A Python script on the laptop handles windowing, feature extraction, and ML inference. This allows for rapid debugging and visualization.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00400" y="3009106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93306" y="3005058"/>
            <a:ext cx="708880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BI-DIRECTIONAL FEEDBACK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3306" y="3449062"/>
            <a:ext cx="708880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laptop sends the </a:t>
            </a: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predicted class ID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back to the ESP32. The ESP32 then triggers the local hardware (OLED/Buzzer) based on the received command.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000400" y="4553347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96084" y="4549299"/>
            <a:ext cx="70860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FULLY EMBEDDED (STRETCH GOAL)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96084" y="4993303"/>
            <a:ext cx="7086026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Convert the Random Forest decision rules into </a:t>
            </a: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C++ if/else logic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 Run the entire pipeline—sampling to classification—locally on the ESP32 for a standalone product.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SUBJECT 6 // ALERT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7887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Alert layer: Turn prediction into action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782551"/>
              </p:ext>
            </p:extLst>
          </p:nvPr>
        </p:nvGraphicFramePr>
        <p:xfrm>
          <a:off x="400949" y="1198663"/>
          <a:ext cx="3633640" cy="5288250"/>
        </p:xfrm>
        <a:graphic>
          <a:graphicData uri="http://schemas.openxmlformats.org/drawingml/2006/table">
            <a:tbl>
              <a:tblPr/>
              <a:tblGrid>
                <a:gridCol w="1817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58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CLASS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ALERT MAPPING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48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FOOTSTEPS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OLED: "HUMAN DETECTED" + LED BLINK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48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VEHICLE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OLED: "VEHICLE ALERT" + BUZZER ON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OTHER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OLED: "UNKNOWN VIBE"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0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Nfrom where didi you geONE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24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OLED: "SYSTEM READY"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3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267093" y="2036762"/>
            <a:ext cx="3886103" cy="2611041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6" name="Text 3"/>
          <p:cNvSpPr/>
          <p:nvPr/>
        </p:nvSpPr>
        <p:spPr>
          <a:xfrm>
            <a:off x="4876678" y="2657793"/>
            <a:ext cx="266693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OLED Display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76678" y="3101796"/>
            <a:ext cx="266693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I2C SSD1306 0.96" shows real-time class name.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05592" y="2036762"/>
            <a:ext cx="3886103" cy="2611041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4" name="Text 6"/>
          <p:cNvSpPr/>
          <p:nvPr/>
        </p:nvSpPr>
        <p:spPr>
          <a:xfrm>
            <a:off x="8915177" y="2657793"/>
            <a:ext cx="266693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Active Buzzer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15177" y="3101796"/>
            <a:ext cx="266693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Audible alert for high-priority (vehicle) events.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267093" y="4800203"/>
            <a:ext cx="3886103" cy="2298005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2" name="Text 9"/>
          <p:cNvSpPr/>
          <p:nvPr/>
        </p:nvSpPr>
        <p:spPr>
          <a:xfrm>
            <a:off x="4876678" y="5421233"/>
            <a:ext cx="266693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LED Indicator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76678" y="5865237"/>
            <a:ext cx="266693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Visual pulse for human footstep detection.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305592" y="4800203"/>
            <a:ext cx="3886103" cy="2298005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5" name="Text 12"/>
          <p:cNvSpPr/>
          <p:nvPr/>
        </p:nvSpPr>
        <p:spPr>
          <a:xfrm>
            <a:off x="8915177" y="5421233"/>
            <a:ext cx="266693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ESP32 GPIO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915177" y="5865237"/>
            <a:ext cx="266693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Logic-level triggers for all peripheral outputs.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525766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VALIDATION // QUALITY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7887"/>
            <a:ext cx="46480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Integration is a sequence of go/no-go checks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795185"/>
            <a:ext cx="464808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SUCCESS CRITERIA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236490"/>
            <a:ext cx="4648084" cy="320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Analog Check: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Tapping the piezo produces a visible voltage swing on the multimeter/oscilloscope.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DSP Check: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Filtered software signal shows clear pulse separation compared to raw ADC noise.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ML Check: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Confusion matrix shows minimal overlap between "Footsteps" and "Vehicle" classes.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7" name="Text 5"/>
          <p:cNvSpPr/>
          <p:nvPr/>
        </p:nvSpPr>
        <p:spPr>
          <a:xfrm>
            <a:off x="6934027" y="950158"/>
            <a:ext cx="525766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14243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GO / NO-GO GATES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34027" y="1514035"/>
            <a:ext cx="4648084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B23A1C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 / 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934027" y="2117923"/>
            <a:ext cx="4648084" cy="31651"/>
          </a:xfrm>
          <a:prstGeom prst="roundRect">
            <a:avLst>
              <a:gd name="adj" fmla="val 49998"/>
            </a:avLst>
          </a:prstGeom>
          <a:solidFill>
            <a:srgbClr val="B23A1C"/>
          </a:solidFill>
          <a:ln/>
        </p:spPr>
      </p:sp>
      <p:sp>
        <p:nvSpPr>
          <p:cNvPr id="10" name="Text 8"/>
          <p:cNvSpPr/>
          <p:nvPr/>
        </p:nvSpPr>
        <p:spPr>
          <a:xfrm>
            <a:off x="6934027" y="2581791"/>
            <a:ext cx="464808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0"/>
              </a:rPr>
              <a:t>COMMON FAILURE POINTS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34027" y="3023096"/>
            <a:ext cx="4648084" cy="289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Floating Ground: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Biasing network failure leads to signal clipping at the 0V rail.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Overfitting: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Collecting data only in one room leads to failure when moved to a different floor type.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43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Latency:</a:t>
            </a: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2-second windows are too long for real-time alerts; consider overlapping windows.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9690" y="616585"/>
            <a:ext cx="272189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PROJECT // CONCLUSION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85349" y="1038820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B23A1C"/>
          </a:solidFill>
          <a:ln/>
        </p:spPr>
      </p:sp>
      <p:sp>
        <p:nvSpPr>
          <p:cNvPr id="4" name="Text 2"/>
          <p:cNvSpPr/>
          <p:nvPr/>
        </p:nvSpPr>
        <p:spPr>
          <a:xfrm>
            <a:off x="1046732" y="1548154"/>
            <a:ext cx="10972526" cy="69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54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0"/>
              </a:rPr>
              <a:t>A complete engineering story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585" y="2417762"/>
            <a:ext cx="1097252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From the first millivolt spike to a smart OLED alert, this prototype demonstrates the power of integrating analog design with modern machine learning.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217988"/>
            <a:ext cx="3759106" cy="2640013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834572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14243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SCALING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585" y="5205531"/>
            <a:ext cx="253993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Deploy a mesh of sensors to triangulate the exact location of the vibration source.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16295" y="4217988"/>
            <a:ext cx="3759106" cy="2640013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0" name="Text 8"/>
          <p:cNvSpPr/>
          <p:nvPr/>
        </p:nvSpPr>
        <p:spPr>
          <a:xfrm>
            <a:off x="4825879" y="4834572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14243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OPTIMIZATION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25879" y="5205531"/>
            <a:ext cx="253993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Prune the Random Forest for ultra-low power consumption on battery-operated nodes.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32589" y="4217988"/>
            <a:ext cx="3759106" cy="2640013"/>
          </a:xfrm>
          <a:prstGeom prst="rect">
            <a:avLst/>
          </a:prstGeom>
          <a:solidFill>
            <a:srgbClr val="D3E1E8"/>
          </a:solidFill>
          <a:ln/>
        </p:spPr>
      </p:sp>
      <p:sp>
        <p:nvSpPr>
          <p:cNvPr id="13" name="Text 11"/>
          <p:cNvSpPr/>
          <p:nvPr/>
        </p:nvSpPr>
        <p:spPr>
          <a:xfrm>
            <a:off x="9042174" y="4834572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14243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EXPANSION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42174" y="5205531"/>
            <a:ext cx="253993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Add "Seismic Event" and "Industrial Machinery" classes for broader use cases.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</TotalTime>
  <Words>1059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Inter</vt:lpstr>
      <vt:lpstr>Inter SemiBold</vt:lpstr>
      <vt:lpstr>Inter Bold</vt:lpstr>
      <vt:lpstr>Mulish SemiBold</vt:lpstr>
      <vt:lpstr>Noto Color Emoji</vt:lpstr>
      <vt:lpstr>Trade Gothic Next Light</vt:lpstr>
      <vt:lpstr>Haettenschweiler</vt:lpstr>
      <vt:lpstr>Russo One</vt:lpstr>
      <vt:lpstr>JetBrains Mono Medium</vt:lpstr>
      <vt:lpstr>Aptos</vt:lpstr>
      <vt:lpstr>JetBrains Mono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Cyril Raj</cp:lastModifiedBy>
  <cp:revision>3</cp:revision>
  <dcterms:created xsi:type="dcterms:W3CDTF">2026-10-23T16:57:52Z</dcterms:created>
  <dcterms:modified xsi:type="dcterms:W3CDTF">2026-10-23T17:00:24Z</dcterms:modified>
</cp:coreProperties>
</file>