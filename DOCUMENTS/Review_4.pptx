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09560" y="960120"/>
            <a:ext cx="3749039" cy="3749039"/>
          </a:xfrm>
          <a:prstGeom prst="ellipse">
            <a:avLst/>
          </a:prstGeom>
          <a:noFill/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66760" y="1417320"/>
            <a:ext cx="2834640" cy="2834640"/>
          </a:xfrm>
          <a:prstGeom prst="ellipse">
            <a:avLst/>
          </a:prstGeom>
          <a:noFill/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51392" y="1901952"/>
            <a:ext cx="1874519" cy="1874519"/>
          </a:xfrm>
          <a:prstGeom prst="ellipse">
            <a:avLst/>
          </a:prstGeom>
          <a:noFill/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7818120" y="4005072"/>
            <a:ext cx="320040" cy="0"/>
          </a:xfrm>
          <a:prstGeom prst="line">
            <a:avLst/>
          </a:prstGeom>
          <a:ln w="29209">
            <a:solidFill>
              <a:srgbClr val="EE8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138160" y="3703320"/>
            <a:ext cx="201167" cy="301752"/>
          </a:xfrm>
          <a:prstGeom prst="line">
            <a:avLst/>
          </a:prstGeom>
          <a:ln w="29209">
            <a:solidFill>
              <a:srgbClr val="2D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339327" y="3703320"/>
            <a:ext cx="192025" cy="667512"/>
          </a:xfrm>
          <a:prstGeom prst="line">
            <a:avLst/>
          </a:prstGeom>
          <a:ln w="29209">
            <a:solidFill>
              <a:srgbClr val="2D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531352" y="3456432"/>
            <a:ext cx="228600" cy="914400"/>
          </a:xfrm>
          <a:prstGeom prst="line">
            <a:avLst/>
          </a:prstGeom>
          <a:ln w="29209">
            <a:solidFill>
              <a:srgbClr val="EE8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59952" y="3456432"/>
            <a:ext cx="228600" cy="704088"/>
          </a:xfrm>
          <a:prstGeom prst="line">
            <a:avLst/>
          </a:prstGeom>
          <a:ln w="29209">
            <a:solidFill>
              <a:srgbClr val="2D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988552" y="4005072"/>
            <a:ext cx="228600" cy="155448"/>
          </a:xfrm>
          <a:prstGeom prst="line">
            <a:avLst/>
          </a:prstGeom>
          <a:ln w="29209">
            <a:solidFill>
              <a:srgbClr val="2D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17152" y="4005072"/>
            <a:ext cx="365760" cy="0"/>
          </a:xfrm>
          <a:prstGeom prst="line">
            <a:avLst/>
          </a:prstGeom>
          <a:ln w="29209">
            <a:solidFill>
              <a:srgbClr val="EE8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82912" y="3767328"/>
            <a:ext cx="219456" cy="237744"/>
          </a:xfrm>
          <a:prstGeom prst="line">
            <a:avLst/>
          </a:prstGeom>
          <a:ln w="29209">
            <a:solidFill>
              <a:srgbClr val="2D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02368" y="3767328"/>
            <a:ext cx="192024" cy="512064"/>
          </a:xfrm>
          <a:prstGeom prst="line">
            <a:avLst/>
          </a:prstGeom>
          <a:ln w="29209">
            <a:solidFill>
              <a:srgbClr val="2D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94392" y="4005072"/>
            <a:ext cx="210312" cy="274320"/>
          </a:xfrm>
          <a:prstGeom prst="line">
            <a:avLst/>
          </a:prstGeom>
          <a:ln w="29209">
            <a:solidFill>
              <a:srgbClr val="EE8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04704" y="4005072"/>
            <a:ext cx="1088136" cy="0"/>
          </a:xfrm>
          <a:prstGeom prst="line">
            <a:avLst/>
          </a:prstGeom>
          <a:ln w="29209">
            <a:solidFill>
              <a:srgbClr val="2D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566928"/>
            <a:ext cx="685800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EE8042"/>
                </a:solidFill>
              </a:rPr>
              <a:t>REVIEW 4  /  VALIDATION OF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234440"/>
            <a:ext cx="6858000" cy="12344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3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AI-Based Ground Vibration</a:t>
            </a:r>
            <a:br/>
            <a:r>
              <a:rPr>
                <a:solidFill>
                  <a:srgbClr val="182B4B"/>
                </a:solidFill>
              </a:rP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670048"/>
            <a:ext cx="6766560" cy="38404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2D5BBE"/>
                </a:solidFill>
              </a:rPr>
              <a:t>Human / Vehicle Activity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73552"/>
            <a:ext cx="6309360" cy="65836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Validation of the sensing, signal-processing and</a:t>
            </a:r>
            <a:br/>
            <a:r>
              <a:rPr>
                <a:solidFill>
                  <a:srgbClr val="182B4B"/>
                </a:solidFill>
              </a:rPr>
              <a:t>machine-learning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343400"/>
            <a:ext cx="6080760" cy="1170432"/>
          </a:xfrm>
          <a:prstGeom prst="round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507992"/>
            <a:ext cx="1554480" cy="20116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TEAM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91456"/>
            <a:ext cx="5440680" cy="492443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7F5FA"/>
                </a:solidFill>
                <a:latin typeface="Aptos"/>
              </a:defRPr>
            </a:pPr>
            <a:r>
              <a:rPr dirty="0">
                <a:solidFill>
                  <a:srgbClr val="182B4B"/>
                </a:solidFill>
              </a:rPr>
              <a:t>G. Akshith  •  K. </a:t>
            </a:r>
            <a:r>
              <a:rPr dirty="0" err="1">
                <a:solidFill>
                  <a:srgbClr val="182B4B"/>
                </a:solidFill>
              </a:rPr>
              <a:t>Ahladh</a:t>
            </a:r>
            <a:r>
              <a:rPr dirty="0">
                <a:solidFill>
                  <a:srgbClr val="182B4B"/>
                </a:solidFill>
              </a:rPr>
              <a:t>  •  P. Cyril Raj</a:t>
            </a:r>
            <a:br>
              <a:rPr dirty="0"/>
            </a:br>
            <a:r>
              <a:rPr dirty="0">
                <a:solidFill>
                  <a:srgbClr val="182B4B"/>
                </a:solidFill>
              </a:rPr>
              <a:t>K</a:t>
            </a:r>
            <a:r>
              <a:rPr lang="en-US" dirty="0">
                <a:solidFill>
                  <a:srgbClr val="182B4B"/>
                </a:solidFill>
              </a:rPr>
              <a:t>.</a:t>
            </a:r>
            <a:r>
              <a:rPr dirty="0">
                <a:solidFill>
                  <a:srgbClr val="182B4B"/>
                </a:solidFill>
              </a:rPr>
              <a:t> Sravya  •  B. Gowri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779008"/>
            <a:ext cx="7955279" cy="43891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Guides: A. Bhuvaneshwari (AECD)  |  Ashwini Kumar Varma (Signal Processing)</a:t>
            </a:r>
            <a:br/>
            <a:r>
              <a:rPr>
                <a:solidFill>
                  <a:srgbClr val="182B4B"/>
                </a:solidFill>
              </a:rPr>
              <a:t>Gangamohan Paidi (Machine 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System Under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0292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86384"/>
            <a:ext cx="9784080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Integrated path from ground vibration to activity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6473952"/>
            <a:ext cx="658368" cy="1645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02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320040" cy="22860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34930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50292" cy="1965960"/>
          </a:xfrm>
          <a:prstGeom prst="rect">
            <a:avLst/>
          </a:prstGeom>
          <a:solidFill>
            <a:srgbClr val="EE8042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35607"/>
            <a:ext cx="3172968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SENSING + ANALOG FRONT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10512"/>
            <a:ext cx="3127248" cy="1380743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Piezoelectric vibration transducer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Protection, AC coupling and 1.65 V bias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Non-inverting amplifier (design gain ≈ 22)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Analog low-pass design cutoff ≈ 408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298448"/>
            <a:ext cx="34930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2544" y="1298448"/>
            <a:ext cx="50292" cy="1965960"/>
          </a:xfrm>
          <a:prstGeom prst="rect">
            <a:avLst/>
          </a:prstGeom>
          <a:solidFill>
            <a:srgbClr val="2D5BBE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1435607"/>
            <a:ext cx="3172968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SIGNAL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810512"/>
            <a:ext cx="3127248" cy="1380743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Sampling target: 2 kHz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1-second windows (2,000 samples)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101-tap Hamming FIR band-pass: 5–400 Hz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RMS, peak, FFT frequency and band energies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98448"/>
            <a:ext cx="349300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98448"/>
            <a:ext cx="50292" cy="1965960"/>
          </a:xfrm>
          <a:prstGeom prst="rect">
            <a:avLst/>
          </a:prstGeom>
          <a:solidFill>
            <a:srgbClr val="2D5BBE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35607"/>
            <a:ext cx="3172968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70B1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CLASSIFICATION +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10512"/>
            <a:ext cx="3127248" cy="1380743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Decision Tree and Random Forest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Four activity classes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OLED class display</a:t>
            </a:r>
          </a:p>
          <a:p>
            <a:pPr>
              <a:spcAft>
                <a:spcPts val="600"/>
              </a:spcAft>
              <a:defRPr sz="12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LED / buzzer response planned for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03320"/>
            <a:ext cx="2743200" cy="237744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FOUR TARGET 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96512"/>
            <a:ext cx="25420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261104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261104"/>
            <a:ext cx="1783080" cy="24688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No activity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096512"/>
            <a:ext cx="25420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2463" y="4261104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61104"/>
            <a:ext cx="1783080" cy="24688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Human footsteps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2512" y="4096512"/>
            <a:ext cx="25420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28816" y="4261104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4261104"/>
            <a:ext cx="1783080" cy="24688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Light vehicle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98864" y="4096512"/>
            <a:ext cx="25420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45168" y="4261104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70B1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4261104"/>
            <a:ext cx="1783080" cy="24688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Other vibration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349240"/>
            <a:ext cx="106984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541264"/>
            <a:ext cx="10241280" cy="20116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Validation status must be reported separately for software tests, circuit simulation and physical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25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Hardware &amp; Circuit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0292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86384"/>
            <a:ext cx="9784080" cy="25603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Multisim output from the project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6473952"/>
            <a:ext cx="658368" cy="16459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 algn="r">
              <a:defRPr sz="9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03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320040" cy="22860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4023360" cy="25603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MULTISIM SIMULATION OUTPUT</a:t>
            </a:r>
          </a:p>
        </p:txBody>
      </p:sp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72768"/>
            <a:ext cx="6446520" cy="2834640"/>
          </a:xfrm>
          <a:prstGeom prst="rect">
            <a:avLst/>
          </a:prstGeom>
          <a:ln/>
        </p:spPr>
      </p:pic>
      <p:sp>
        <p:nvSpPr>
          <p:cNvPr id="9" name="Rounded Rectangle 8"/>
          <p:cNvSpPr/>
          <p:nvPr/>
        </p:nvSpPr>
        <p:spPr>
          <a:xfrm>
            <a:off x="7406640" y="1481328"/>
            <a:ext cx="4041648" cy="312724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DESIGN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148840"/>
            <a:ext cx="3474720" cy="20574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Bias target: ≈ 1.65 V</a:t>
            </a:r>
            <a:br/>
            <a:br/>
            <a:r>
              <a:rPr>
                <a:solidFill>
                  <a:srgbClr val="182B4B"/>
                </a:solidFill>
              </a:rPr>
              <a:t>• Amplifier gain target: ≈ 22</a:t>
            </a:r>
            <a:br/>
            <a:br/>
            <a:r>
              <a:rPr>
                <a:solidFill>
                  <a:srgbClr val="182B4B"/>
                </a:solidFill>
              </a:rPr>
              <a:t>• Low-pass cutoff target: ≈ 408 Hz</a:t>
            </a:r>
            <a:br/>
            <a:br/>
            <a:r>
              <a:rPr>
                <a:solidFill>
                  <a:srgbClr val="182B4B"/>
                </a:solidFill>
              </a:rPr>
              <a:t>• ADC signal must stay within 0–3.3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8006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020056"/>
            <a:ext cx="10195560" cy="32004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 algn="ctr">
              <a:defRPr sz="12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The documentation includes a Multisim simulation screenshot. Confirm exact readings and mark each hardware test as PASS / FAIL / NOT YET TESTED.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1033272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 algn="ctr"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Calculated targets are not presented as physical measurements.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25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Signal-Processing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0292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86384"/>
            <a:ext cx="9784080" cy="25603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Figures from the documentation: time-domain and frequency-domain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6473952"/>
            <a:ext cx="658368" cy="16459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 algn="r">
              <a:defRPr sz="9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04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320040" cy="22860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EXAMPLE 1-SECOND SIGNAL WINDOWS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36192"/>
            <a:ext cx="3337560" cy="3429000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43434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FFT MAGNITUDE SPECTRA</a:t>
            </a:r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36192"/>
            <a:ext cx="3337560" cy="3429000"/>
          </a:xfrm>
          <a:prstGeom prst="rect">
            <a:avLst/>
          </a:prstGeom>
          <a:ln/>
        </p:spPr>
      </p:pic>
      <p:sp>
        <p:nvSpPr>
          <p:cNvPr id="11" name="TextBox 10"/>
          <p:cNvSpPr txBox="1"/>
          <p:nvPr/>
        </p:nvSpPr>
        <p:spPr>
          <a:xfrm>
            <a:off x="8001000" y="1188720"/>
            <a:ext cx="338328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70B1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FIR / IIR FILTER RESPONSE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36192"/>
            <a:ext cx="3429000" cy="1828800"/>
          </a:xfrm>
          <a:prstGeom prst="rect">
            <a:avLst/>
          </a:prstGeom>
          <a:ln/>
        </p:spPr>
      </p:pic>
      <p:sp>
        <p:nvSpPr>
          <p:cNvPr id="13" name="Rounded Rectangle 12"/>
          <p:cNvSpPr/>
          <p:nvPr/>
        </p:nvSpPr>
        <p:spPr>
          <a:xfrm>
            <a:off x="8028431" y="3611880"/>
            <a:ext cx="33375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3794760"/>
            <a:ext cx="283464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3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Pipeline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133087"/>
            <a:ext cx="2880360" cy="59436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2 kHz sampling • 101-tap Hamming FIR</a:t>
            </a:r>
            <a:br/>
            <a:r>
              <a:rPr>
                <a:solidFill>
                  <a:srgbClr val="182B4B"/>
                </a:solidFill>
              </a:rPr>
              <a:t>5–400 Hz band-pass • 1 s windows</a:t>
            </a:r>
            <a:br/>
            <a:r>
              <a:rPr>
                <a:solidFill>
                  <a:srgbClr val="182B4B"/>
                </a:solidFill>
              </a:rPr>
              <a:t>Six extracted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257800"/>
            <a:ext cx="1068019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5449824"/>
            <a:ext cx="10287000" cy="27432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 algn="ctr">
              <a:defRPr sz="12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These plots illustrate synthetic example signals and designed filter responses; real sensor recordings are still required for field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25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Machine-Learning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0292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86384"/>
            <a:ext cx="9784080" cy="25603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Classification outputs reproduced from the project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6473952"/>
            <a:ext cx="658368" cy="164592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 algn="r">
              <a:defRPr sz="9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05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320040" cy="22860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170432"/>
            <a:ext cx="365760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CONFUSION MATRICES</a:t>
            </a:r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81328"/>
            <a:ext cx="5897880" cy="2542032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6839712" y="1170432"/>
            <a:ext cx="438912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RANDOM FOREST FEATURE IMPORTANCE</a:t>
            </a:r>
          </a:p>
        </p:txBody>
      </p:sp>
      <p:pic>
        <p:nvPicPr>
          <p:cNvPr id="10" name="Picture 9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536192"/>
            <a:ext cx="4389120" cy="2514600"/>
          </a:xfrm>
          <a:prstGeom prst="rect">
            <a:avLst/>
          </a:prstGeom>
          <a:ln/>
        </p:spPr>
      </p:pic>
      <p:sp>
        <p:nvSpPr>
          <p:cNvPr id="11" name="Rounded Rectangle 10"/>
          <p:cNvSpPr/>
          <p:nvPr/>
        </p:nvSpPr>
        <p:spPr>
          <a:xfrm>
            <a:off x="749808" y="425196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438912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HELD-OUT TEST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28032"/>
            <a:ext cx="4526280" cy="292608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Decision Tree: 67.5%     Random Forest: 75.4%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4251960"/>
            <a:ext cx="5349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4462272"/>
            <a:ext cx="4389120" cy="2286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5-FOLD CROSS-VALIDATION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773168"/>
            <a:ext cx="4663440" cy="45720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defRPr sz="1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Decision Tree: 80.9% ± 5.2%</a:t>
            </a:r>
            <a:br/>
            <a:r>
              <a:rPr>
                <a:solidFill>
                  <a:srgbClr val="182B4B"/>
                </a:solidFill>
              </a:rPr>
              <a:t>Random Forest: 86.4% ± 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332720" cy="274320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 algn="ctr">
              <a:defRPr sz="1200" b="1">
                <a:solidFill>
                  <a:srgbClr val="FF7E84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All reported ML metrics are from synthetic data, not real-world hardware recordings.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Integrated Testing &amp; 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0292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86384"/>
            <a:ext cx="9784080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Record actual predictions and output behaviour during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6473952"/>
            <a:ext cx="658368" cy="1645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06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320040" cy="22860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389888"/>
            <a:ext cx="2240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27048"/>
            <a:ext cx="2093976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TEST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389888"/>
            <a:ext cx="2514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7832" y="1527048"/>
            <a:ext cx="2368296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EXPECTED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389888"/>
            <a:ext cx="2514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25312" y="1527048"/>
            <a:ext cx="2368296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ACTUAL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389888"/>
            <a:ext cx="2743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22792" y="1527048"/>
            <a:ext cx="2596896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1993392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139696"/>
            <a:ext cx="209397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Quiet ground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993392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27832" y="2139696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No activity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993392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5312" y="2139696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Fill from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993392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22792" y="2139696"/>
            <a:ext cx="25968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Not tested / Pass / Fail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2715768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2862072"/>
            <a:ext cx="209397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Person walking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2715768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27832" y="2862072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Human footsteps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2715768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25312" y="2862072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Fill from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2715768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2862072"/>
            <a:ext cx="25968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Not tested / Pass / Fail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3438144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3584448"/>
            <a:ext cx="209397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Bicycle / car passing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3438144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27832" y="3584448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Light vehicle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3438144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25312" y="3584448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Fill from test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3438144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22792" y="3584448"/>
            <a:ext cx="25968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Not tested / Pass / Fail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" y="4160520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59" y="4306824"/>
            <a:ext cx="209397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Tap / knock / burst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4680" y="416052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27832" y="4306824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Other vibration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52160" y="416052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25312" y="4306824"/>
            <a:ext cx="23682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Fill from test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4160520"/>
            <a:ext cx="2743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22792" y="4306824"/>
            <a:ext cx="2596896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1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Not tested / Pass / Fail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5230368"/>
            <a:ext cx="10543032" cy="704088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" y="5431536"/>
            <a:ext cx="10149840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Attach real screenshots/photos: sensor readings, OLED class display and LED/buzzer response—only for features actually integrated.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6144768"/>
            <a:ext cx="1033272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A test-case template is provided here; fill in the observed output after testing the physical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Conclusion &amp; Remaining Validation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77824"/>
            <a:ext cx="713232" cy="50292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86384"/>
            <a:ext cx="9784080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What is established now—and what is still needed before claiming field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9648" y="6473952"/>
            <a:ext cx="658368" cy="1645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B9B4C5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07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320040" cy="22860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212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50292" cy="3429000"/>
          </a:xfrm>
          <a:prstGeom prst="rect">
            <a:avLst/>
          </a:prstGeom>
          <a:solidFill>
            <a:srgbClr val="70DCA4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63039"/>
            <a:ext cx="4892040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70DCA4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CURRENTLY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37943"/>
            <a:ext cx="4846320" cy="2843784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Python signal-processing and ML pipeline tested on synthetic data</a:t>
            </a:r>
          </a:p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Random Forest outperformed Decision Tree on the held-out synthetic test set</a:t>
            </a:r>
          </a:p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Preliminary test accuracy: 75.4% Random Forest</a:t>
            </a:r>
          </a:p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Design targets and hardware test criteria are documented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212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E8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325880"/>
            <a:ext cx="50292" cy="3429000"/>
          </a:xfrm>
          <a:prstGeom prst="rect">
            <a:avLst/>
          </a:prstGeom>
          <a:solidFill>
            <a:srgbClr val="EE8042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63039"/>
            <a:ext cx="4892040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B84D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NEXT VALIDATION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37943"/>
            <a:ext cx="4846320" cy="2843784"/>
          </a:xfrm>
          <a:prstGeom prst="rect">
            <a:avLst/>
          </a:prstGeom>
          <a:noFill/>
          <a:ln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Verify analog front end in simulation and on breadboard</a:t>
            </a:r>
          </a:p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Record real labelled vibration data across surfaces and distances</a:t>
            </a:r>
          </a:p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Retrain and evaluate on real recordings</a:t>
            </a:r>
          </a:p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Integrate OLED / LED / buzzer and test live classifications</a:t>
            </a:r>
          </a:p>
          <a:p>
            <a:pPr>
              <a:spcAft>
                <a:spcPts val="6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• Report limitations and false alarms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138928"/>
            <a:ext cx="1068019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D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7F5FA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FINAL MESSAGE: the software pipeline has a synthetic-data baseline; physical and real-world validation are essential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B8A0FF"/>
                </a:solidFill>
                <a:latin typeface="Aptos"/>
              </a:defRPr>
            </a:pPr>
            <a:r>
              <a:rPr>
                <a:solidFill>
                  <a:srgbClr val="182B4B"/>
                </a:solidFill>
              </a:rPr>
              <a:t>Thank you  •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686</Words>
  <Application>Microsoft Office PowerPoint</Application>
  <PresentationFormat>Widescreen</PresentationFormat>
  <Paragraphs>103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Cyril</dc:creator>
  <cp:keywords/>
  <dc:description>generated using python-pptx</dc:description>
  <cp:lastModifiedBy>Cyril Raj</cp:lastModifiedBy>
  <cp:revision>3</cp:revision>
  <dcterms:created xsi:type="dcterms:W3CDTF">2013-01-27T09:14:16Z</dcterms:created>
  <dcterms:modified xsi:type="dcterms:W3CDTF">2026-10-23T17:25:42Z</dcterms:modified>
  <cp:category/>
</cp:coreProperties>
</file>